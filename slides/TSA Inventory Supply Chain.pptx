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Rise in avg weekly demand, 2020 vs 2019 (%)</a:t>
            </a:r>
          </a:p>
        </c:rich>
      </c:tx>
      <c:layout/>
      <c:overlay val="0"/>
    </c:title>
    <c:autoTitleDeleted val="0"/>
    <c:plotArea>
      <c:layout/>
      <c:barChart>
        <c:barDir val="col"/>
        <c:grouping val="clustered"/>
        <c:varyColors val="0"/>
        <c:ser>
          <c:idx val="0"/>
          <c:order val="0"/>
          <c:tx>
            <c:strRef>
              <c:f>Sheet1!$B$1</c:f>
              <c:strCache>
                <c:ptCount val="1"/>
                <c:pt idx="0">
                  <c:v>2020 vs 2019 uplift (%)</c:v>
                </c:pt>
              </c:strCache>
            </c:strRef>
          </c:tx>
          <c:spPr>
            <a:solidFill>
              <a:srgbClr val="2D8A8A"/>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Sheet1!$B$2:$B$6</c:f>
              <c:numCache>
                <c:formatCode>General</c:formatCode>
                <c:ptCount val="5"/>
                <c:pt idx="0">
                  <c:v>10.5</c:v>
                </c:pt>
                <c:pt idx="1">
                  <c:v>13.2</c:v>
                </c:pt>
                <c:pt idx="2">
                  <c:v>11.5</c:v>
                </c:pt>
                <c:pt idx="3">
                  <c:v>12.5</c:v>
                </c:pt>
                <c:pt idx="4">
                  <c:v>9.8</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Holdout MAPE (%) by model</a:t>
            </a:r>
          </a:p>
        </c:rich>
      </c:tx>
      <c:layout/>
      <c:overlay val="0"/>
    </c:title>
    <c:autoTitleDeleted val="0"/>
    <c:plotArea>
      <c:layout/>
      <c:barChart>
        <c:barDir val="col"/>
        <c:grouping val="clustered"/>
        <c:varyColors val="0"/>
        <c:ser>
          <c:idx val="0"/>
          <c:order val="0"/>
          <c:tx>
            <c:strRef>
              <c:f>Sheet1!$B$1</c:f>
              <c:strCache>
                <c:ptCount val="1"/>
                <c:pt idx="0">
                  <c:v>Naive</c:v>
                </c:pt>
              </c:strCache>
            </c:strRef>
          </c:tx>
          <c:spPr>
            <a:solidFill>
              <a:srgbClr val="9AA9A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Sheet1!$B$2:$B$6</c:f>
              <c:numCache>
                <c:formatCode>General</c:formatCode>
                <c:ptCount val="5"/>
                <c:pt idx="0">
                  <c:v>41.8</c:v>
                </c:pt>
                <c:pt idx="1">
                  <c:v>18.6</c:v>
                </c:pt>
                <c:pt idx="2">
                  <c:v>19.1</c:v>
                </c:pt>
                <c:pt idx="3">
                  <c:v>31.1</c:v>
                </c:pt>
                <c:pt idx="4">
                  <c:v>17.3</c:v>
                </c:pt>
              </c:numCache>
            </c:numRef>
          </c:val>
        </c:ser>
        <c:ser>
          <c:idx val="1"/>
          <c:order val="1"/>
          <c:tx>
            <c:strRef>
              <c:f>Sheet1!$C$1</c:f>
              <c:strCache>
                <c:ptCount val="1"/>
                <c:pt idx="0">
                  <c:v>MovAvg(4)</c:v>
                </c:pt>
              </c:strCache>
            </c:strRef>
          </c:tx>
          <c:spPr>
            <a:solidFill>
              <a:srgbClr val="2D8A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Sheet1!$C$2:$C$6</c:f>
              <c:numCache>
                <c:formatCode>General</c:formatCode>
                <c:ptCount val="5"/>
                <c:pt idx="0">
                  <c:v>17.1</c:v>
                </c:pt>
                <c:pt idx="1">
                  <c:v>11.5</c:v>
                </c:pt>
                <c:pt idx="2">
                  <c:v>15</c:v>
                </c:pt>
                <c:pt idx="3">
                  <c:v>12.2</c:v>
                </c:pt>
                <c:pt idx="4">
                  <c:v>8.6</c:v>
                </c:pt>
              </c:numCache>
            </c:numRef>
          </c:val>
        </c:ser>
        <c:ser>
          <c:idx val="2"/>
          <c:order val="2"/>
          <c:tx>
            <c:strRef>
              <c:f>Sheet1!$D$1</c:f>
              <c:strCache>
                <c:ptCount val="1"/>
                <c:pt idx="0">
                  <c:v>SES</c:v>
                </c:pt>
              </c:strCache>
            </c:strRef>
          </c:tx>
          <c:spPr>
            <a:solidFill>
              <a:srgbClr val="5BB5A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Sheet1!$D$2:$D$6</c:f>
              <c:numCache>
                <c:formatCode>General</c:formatCode>
                <c:ptCount val="5"/>
                <c:pt idx="0">
                  <c:v>18.4</c:v>
                </c:pt>
                <c:pt idx="1">
                  <c:v>12.8</c:v>
                </c:pt>
                <c:pt idx="2">
                  <c:v>14.3</c:v>
                </c:pt>
                <c:pt idx="3">
                  <c:v>13.8</c:v>
                </c:pt>
                <c:pt idx="4">
                  <c:v>8.5</c:v>
                </c:pt>
              </c:numCache>
            </c:numRef>
          </c:val>
        </c:ser>
        <c:ser>
          <c:idx val="3"/>
          <c:order val="3"/>
          <c:tx>
            <c:strRef>
              <c:f>Sheet1!$E$1</c:f>
              <c:strCache>
                <c:ptCount val="1"/>
                <c:pt idx="0">
                  <c:v>Holt</c:v>
                </c:pt>
              </c:strCache>
            </c:strRef>
          </c:tx>
          <c:spPr>
            <a:solidFill>
              <a:srgbClr val="F2A5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Sheet1!$E$2:$E$6</c:f>
              <c:numCache>
                <c:formatCode>General</c:formatCode>
                <c:ptCount val="5"/>
                <c:pt idx="0">
                  <c:v>18.4</c:v>
                </c:pt>
                <c:pt idx="1">
                  <c:v>13.1</c:v>
                </c:pt>
                <c:pt idx="2">
                  <c:v>15.5</c:v>
                </c:pt>
                <c:pt idx="3">
                  <c:v>13.8</c:v>
                </c:pt>
                <c:pt idx="4">
                  <c:v>8.4</c:v>
                </c:pt>
              </c:numCache>
            </c:numRef>
          </c:val>
        </c:ser>
        <c:ser>
          <c:idx val="4"/>
          <c:order val="4"/>
          <c:tx>
            <c:strRef>
              <c:f>Sheet1!$F$1</c:f>
              <c:strCache>
                <c:ptCount val="1"/>
                <c:pt idx="0">
                  <c:v>ARIMA(1,1,1)</c:v>
                </c:pt>
              </c:strCache>
            </c:strRef>
          </c:tx>
          <c:spPr>
            <a:solidFill>
              <a:srgbClr val="1234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Sheet1!$F$2:$F$6</c:f>
              <c:numCache>
                <c:formatCode>General</c:formatCode>
                <c:ptCount val="5"/>
                <c:pt idx="0">
                  <c:v>18.2</c:v>
                </c:pt>
                <c:pt idx="1">
                  <c:v>12.9</c:v>
                </c:pt>
                <c:pt idx="2">
                  <c:v>14.3</c:v>
                </c:pt>
                <c:pt idx="3">
                  <c:v>15.7</c:v>
                </c:pt>
                <c:pt idx="4">
                  <c:v>9.1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Weekly demand (units)</a:t>
            </a:r>
          </a:p>
        </c:rich>
      </c:tx>
      <c:layout/>
      <c:overlay val="0"/>
    </c:title>
    <c:autoTitleDeleted val="0"/>
    <c:plotArea>
      <c:layout/>
      <c:lineChart>
        <c:varyColors val="0"/>
        <c:ser>
          <c:idx val="0"/>
          <c:order val="0"/>
          <c:tx>
            <c:strRef>
              <c:f>Sheet1!$B$1</c:f>
              <c:strCache>
                <c:ptCount val="1"/>
                <c:pt idx="0">
                  <c:v>Actual</c:v>
                </c:pt>
              </c:strCache>
            </c:strRef>
          </c:tx>
          <c:spPr>
            <a:solidFill>
              <a:srgbClr val="12343B"/>
            </a:solidFill>
            <a:ln w="25400" cap="flat">
              <a:solidFill>
                <a:srgbClr val="123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343B"/>
              </a:solidFill>
              <a:ln w="9525" cap="flat">
                <a:solidFill>
                  <a:srgbClr val="12343B"/>
                </a:solidFill>
                <a:prstDash val="solid"/>
                <a:round/>
              </a:ln>
              <a:effectLst/>
            </c:spPr>
          </c:marker>
          <c:cat>
            <c:multiLvlStrRef>
              <c:f>Sheet1!$A$2:$A$39</c:f>
              <c:multiLvlStrCache>
                <c:ptCount val="38"/>
                <c:lvl>
                  <c:pt idx="0">
                    <c:v>W-26</c:v>
                  </c:pt>
                  <c:pt idx="1">
                    <c:v>W-25</c:v>
                  </c:pt>
                  <c:pt idx="2">
                    <c:v>W-24</c:v>
                  </c:pt>
                  <c:pt idx="3">
                    <c:v>W-23</c:v>
                  </c:pt>
                  <c:pt idx="4">
                    <c:v>W-22</c:v>
                  </c:pt>
                  <c:pt idx="5">
                    <c:v>W-21</c:v>
                  </c:pt>
                  <c:pt idx="6">
                    <c:v>W-20</c:v>
                  </c:pt>
                  <c:pt idx="7">
                    <c:v>W-19</c:v>
                  </c:pt>
                  <c:pt idx="8">
                    <c:v>W-18</c:v>
                  </c:pt>
                  <c:pt idx="9">
                    <c:v>W-17</c:v>
                  </c:pt>
                  <c:pt idx="10">
                    <c:v>W-16</c:v>
                  </c:pt>
                  <c:pt idx="11">
                    <c:v>W-15</c:v>
                  </c:pt>
                  <c:pt idx="12">
                    <c:v>W-14</c:v>
                  </c:pt>
                  <c:pt idx="13">
                    <c:v>W-13</c:v>
                  </c:pt>
                  <c:pt idx="14">
                    <c:v>W-12</c:v>
                  </c:pt>
                  <c:pt idx="15">
                    <c:v>W-11</c:v>
                  </c:pt>
                  <c:pt idx="16">
                    <c:v>W-10</c:v>
                  </c:pt>
                  <c:pt idx="17">
                    <c:v>W-9</c:v>
                  </c:pt>
                  <c:pt idx="18">
                    <c:v>W-8</c:v>
                  </c:pt>
                  <c:pt idx="19">
                    <c:v>W-7</c:v>
                  </c:pt>
                  <c:pt idx="20">
                    <c:v>W-6</c:v>
                  </c:pt>
                  <c:pt idx="21">
                    <c:v>W-5</c:v>
                  </c:pt>
                  <c:pt idx="22">
                    <c:v>W-4</c:v>
                  </c:pt>
                  <c:pt idx="23">
                    <c:v>W-3</c:v>
                  </c:pt>
                  <c:pt idx="24">
                    <c:v>W-2</c:v>
                  </c:pt>
                  <c:pt idx="25">
                    <c:v>W-1</c:v>
                  </c:pt>
                  <c:pt idx="26">
                    <c:v>F+1</c:v>
                  </c:pt>
                  <c:pt idx="27">
                    <c:v>F+2</c:v>
                  </c:pt>
                  <c:pt idx="28">
                    <c:v>F+3</c:v>
                  </c:pt>
                  <c:pt idx="29">
                    <c:v>F+4</c:v>
                  </c:pt>
                  <c:pt idx="30">
                    <c:v>F+5</c:v>
                  </c:pt>
                  <c:pt idx="31">
                    <c:v>F+6</c:v>
                  </c:pt>
                  <c:pt idx="32">
                    <c:v>F+7</c:v>
                  </c:pt>
                  <c:pt idx="33">
                    <c:v>F+8</c:v>
                  </c:pt>
                  <c:pt idx="34">
                    <c:v>F+9</c:v>
                  </c:pt>
                  <c:pt idx="35">
                    <c:v>F+10</c:v>
                  </c:pt>
                  <c:pt idx="36">
                    <c:v>F+11</c:v>
                  </c:pt>
                  <c:pt idx="37">
                    <c:v>F+12</c:v>
                  </c:pt>
                </c:lvl>
              </c:multiLvlStrCache>
            </c:multiLvlStrRef>
          </c:cat>
          <c:val>
            <c:numRef>
              <c:f>Sheet1!$B$2:$B$39</c:f>
              <c:numCache>
                <c:formatCode>General</c:formatCode>
                <c:ptCount val="38"/>
                <c:pt idx="0">
                  <c:v>166549</c:v>
                </c:pt>
                <c:pt idx="1">
                  <c:v>174696</c:v>
                </c:pt>
                <c:pt idx="2">
                  <c:v>111339</c:v>
                </c:pt>
                <c:pt idx="3">
                  <c:v>166198</c:v>
                </c:pt>
                <c:pt idx="4">
                  <c:v>185307</c:v>
                </c:pt>
                <c:pt idx="5">
                  <c:v>179460</c:v>
                </c:pt>
                <c:pt idx="6">
                  <c:v>136361</c:v>
                </c:pt>
                <c:pt idx="7">
                  <c:v>170157</c:v>
                </c:pt>
                <c:pt idx="8">
                  <c:v>135053</c:v>
                </c:pt>
                <c:pt idx="9">
                  <c:v>146146</c:v>
                </c:pt>
                <c:pt idx="10">
                  <c:v>127809</c:v>
                </c:pt>
                <c:pt idx="11">
                  <c:v>132078</c:v>
                </c:pt>
                <c:pt idx="12">
                  <c:v>144590</c:v>
                </c:pt>
                <c:pt idx="13">
                  <c:v>186155</c:v>
                </c:pt>
                <c:pt idx="14">
                  <c:v>152579</c:v>
                </c:pt>
                <c:pt idx="15">
                  <c:v>136511</c:v>
                </c:pt>
                <c:pt idx="16">
                  <c:v>131677</c:v>
                </c:pt>
                <c:pt idx="17">
                  <c:v>138734</c:v>
                </c:pt>
                <c:pt idx="18">
                  <c:v>164284</c:v>
                </c:pt>
                <c:pt idx="19">
                  <c:v>175621</c:v>
                </c:pt>
                <c:pt idx="20">
                  <c:v>115498</c:v>
                </c:pt>
                <c:pt idx="21">
                  <c:v>185001</c:v>
                </c:pt>
                <c:pt idx="22">
                  <c:v>146443</c:v>
                </c:pt>
                <c:pt idx="23">
                  <c:v>136404</c:v>
                </c:pt>
                <c:pt idx="24">
                  <c:v>122401</c:v>
                </c:pt>
                <c:pt idx="25">
                  <c:v>130503</c:v>
                </c:pt>
                <c:pt idx="26">
                  <c:v/>
                </c:pt>
                <c:pt idx="27">
                  <c:v/>
                </c:pt>
                <c:pt idx="28">
                  <c:v/>
                </c:pt>
                <c:pt idx="29">
                  <c:v/>
                </c:pt>
                <c:pt idx="30">
                  <c:v/>
                </c:pt>
                <c:pt idx="31">
                  <c:v/>
                </c:pt>
                <c:pt idx="32">
                  <c:v/>
                </c:pt>
                <c:pt idx="33">
                  <c:v/>
                </c:pt>
                <c:pt idx="34">
                  <c:v/>
                </c:pt>
                <c:pt idx="35">
                  <c:v/>
                </c:pt>
                <c:pt idx="36">
                  <c:v/>
                </c:pt>
                <c:pt idx="37">
                  <c:v/>
                </c:pt>
              </c:numCache>
            </c:numRef>
          </c:val>
          <c:smooth val="0"/>
        </c:ser>
        <c:ser>
          <c:idx val="1"/>
          <c:order val="1"/>
          <c:tx>
            <c:strRef>
              <c:f>Sheet1!$C$1</c:f>
              <c:strCache>
                <c:ptCount val="1"/>
                <c:pt idx="0">
                  <c:v>Forecast</c:v>
                </c:pt>
              </c:strCache>
            </c:strRef>
          </c:tx>
          <c:spPr>
            <a:solidFill>
              <a:srgbClr val="F2A541"/>
            </a:solidFill>
            <a:ln w="2540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F2A541"/>
              </a:solidFill>
              <a:ln w="9525" cap="flat">
                <a:solidFill>
                  <a:srgbClr val="F2A541"/>
                </a:solidFill>
                <a:prstDash val="solid"/>
                <a:round/>
              </a:ln>
              <a:effectLst/>
            </c:spPr>
          </c:marker>
          <c:cat>
            <c:multiLvlStrRef>
              <c:f>Sheet1!$A$2:$A$39</c:f>
              <c:multiLvlStrCache>
                <c:ptCount val="38"/>
                <c:lvl>
                  <c:pt idx="0">
                    <c:v>W-26</c:v>
                  </c:pt>
                  <c:pt idx="1">
                    <c:v>W-25</c:v>
                  </c:pt>
                  <c:pt idx="2">
                    <c:v>W-24</c:v>
                  </c:pt>
                  <c:pt idx="3">
                    <c:v>W-23</c:v>
                  </c:pt>
                  <c:pt idx="4">
                    <c:v>W-22</c:v>
                  </c:pt>
                  <c:pt idx="5">
                    <c:v>W-21</c:v>
                  </c:pt>
                  <c:pt idx="6">
                    <c:v>W-20</c:v>
                  </c:pt>
                  <c:pt idx="7">
                    <c:v>W-19</c:v>
                  </c:pt>
                  <c:pt idx="8">
                    <c:v>W-18</c:v>
                  </c:pt>
                  <c:pt idx="9">
                    <c:v>W-17</c:v>
                  </c:pt>
                  <c:pt idx="10">
                    <c:v>W-16</c:v>
                  </c:pt>
                  <c:pt idx="11">
                    <c:v>W-15</c:v>
                  </c:pt>
                  <c:pt idx="12">
                    <c:v>W-14</c:v>
                  </c:pt>
                  <c:pt idx="13">
                    <c:v>W-13</c:v>
                  </c:pt>
                  <c:pt idx="14">
                    <c:v>W-12</c:v>
                  </c:pt>
                  <c:pt idx="15">
                    <c:v>W-11</c:v>
                  </c:pt>
                  <c:pt idx="16">
                    <c:v>W-10</c:v>
                  </c:pt>
                  <c:pt idx="17">
                    <c:v>W-9</c:v>
                  </c:pt>
                  <c:pt idx="18">
                    <c:v>W-8</c:v>
                  </c:pt>
                  <c:pt idx="19">
                    <c:v>W-7</c:v>
                  </c:pt>
                  <c:pt idx="20">
                    <c:v>W-6</c:v>
                  </c:pt>
                  <c:pt idx="21">
                    <c:v>W-5</c:v>
                  </c:pt>
                  <c:pt idx="22">
                    <c:v>W-4</c:v>
                  </c:pt>
                  <c:pt idx="23">
                    <c:v>W-3</c:v>
                  </c:pt>
                  <c:pt idx="24">
                    <c:v>W-2</c:v>
                  </c:pt>
                  <c:pt idx="25">
                    <c:v>W-1</c:v>
                  </c:pt>
                  <c:pt idx="26">
                    <c:v>F+1</c:v>
                  </c:pt>
                  <c:pt idx="27">
                    <c:v>F+2</c:v>
                  </c:pt>
                  <c:pt idx="28">
                    <c:v>F+3</c:v>
                  </c:pt>
                  <c:pt idx="29">
                    <c:v>F+4</c:v>
                  </c:pt>
                  <c:pt idx="30">
                    <c:v>F+5</c:v>
                  </c:pt>
                  <c:pt idx="31">
                    <c:v>F+6</c:v>
                  </c:pt>
                  <c:pt idx="32">
                    <c:v>F+7</c:v>
                  </c:pt>
                  <c:pt idx="33">
                    <c:v>F+8</c:v>
                  </c:pt>
                  <c:pt idx="34">
                    <c:v>F+9</c:v>
                  </c:pt>
                  <c:pt idx="35">
                    <c:v>F+10</c:v>
                  </c:pt>
                  <c:pt idx="36">
                    <c:v>F+11</c:v>
                  </c:pt>
                  <c:pt idx="37">
                    <c:v>F+12</c:v>
                  </c:pt>
                </c:lvl>
              </c:multiLvlStrCache>
            </c:multiLvlStrRef>
          </c:cat>
          <c:val>
            <c:numRef>
              <c:f>Sheet1!$C$2:$C$39</c:f>
              <c:numCache>
                <c:formatCode>General</c:formatCode>
                <c:ptCount val="38"/>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130503</c:v>
                </c:pt>
                <c:pt idx="26">
                  <c:v>133937.75</c:v>
                </c:pt>
                <c:pt idx="27">
                  <c:v>133937.75</c:v>
                </c:pt>
                <c:pt idx="28">
                  <c:v>133937.75</c:v>
                </c:pt>
                <c:pt idx="29">
                  <c:v>133937.75</c:v>
                </c:pt>
                <c:pt idx="30">
                  <c:v>133937.75</c:v>
                </c:pt>
                <c:pt idx="31">
                  <c:v>133937.75</c:v>
                </c:pt>
                <c:pt idx="32">
                  <c:v>133937.75</c:v>
                </c:pt>
                <c:pt idx="33">
                  <c:v>133937.75</c:v>
                </c:pt>
                <c:pt idx="34">
                  <c:v>133937.75</c:v>
                </c:pt>
                <c:pt idx="35">
                  <c:v>133937.75</c:v>
                </c:pt>
                <c:pt idx="36">
                  <c:v>133937.75</c:v>
                </c:pt>
                <c:pt idx="37">
                  <c:v>133937.75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6350" cap="flat">
              <a:solidFill>
                <a:srgbClr val="E3E8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how can forecasting help a medical supplier decide how much stock to hold and when to reorder, using 2019-2020 demand data that spans the start of COVID-19.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dataset: transaction-level demand records for five medical items across 2019 and 2020. Point out that the file has no stock-level column, so inventory levels are derived from forecasts. Cleaning: one blank row dropped, daily records aggregated to weekly totals, partial first and last weeks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average weekly demand rose about 10-13% in the weeks of 2020 versus the weeks of 2019 for every item, with the biggest rise in Hand Sanitizer. Right side: we tested whether regulation, market trend, weather or supply delay changed demand with one-way ANOVA. None was significant, so demand level is driven by order volume over time, not by those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We hold out the final 12 weeks as a test set, fit five models on the rest and compare them using MAE, RMSE and MAPE. The best model by MAPE is refit on all data and used to forecast the next 12 weeks. Its test RMSE becomes the forecast-error estimate used for safety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MAPE is the average percentage error on the unseen last 12 weeks, so lower is better. The Naive forecast is the baseline and is clearly the worst. Simple smoothers (moving average, SES, Holt) win for four items, and ARIMA ties SES for Paracetamol. Complex does not mean better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solid line is the last 26 weeks of actual weekly demand; the dashed amber line is the 12-week forecast. The forecast is flat because the best model is a moving average, meaning there is no reliable seasonal pattern to extrapolate. The full dashboard shows the same chart for every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stock = z x forecast error x square root of lead time, with z = 1.645 for a 95% service level. Reorder point = forecast demand during lead time + safety stock. IMPORTANT assumption to state out loud: lead time of 1 week for normal and 2 weeks for delayed supply. These are our assumptions, not in the dataset. About half of all records are flagged delayed, so plan using the delayed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actions. Surgical Mask and Hand Sanitizer carry the largest absolute volumes, so they need the biggest buffers. Be honest about limits: only two years of data means no yearly seasonality can be estimated, the drivers showed no effect, and lead times are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3B"/>
        </a:solidFill>
      </p:bgPr>
    </p:bg>
    <p:spTree>
      <p:nvGrpSpPr>
        <p:cNvPr id="1" name=""/>
        <p:cNvGrpSpPr/>
        <p:nvPr/>
      </p:nvGrpSpPr>
      <p:grpSpPr>
        <a:xfrm>
          <a:off x="0" y="0"/>
          <a:ext cx="0" cy="0"/>
          <a:chOff x="0" y="0"/>
          <a:chExt cx="0" cy="0"/>
        </a:xfrm>
      </p:grpSpPr>
      <p:sp>
        <p:nvSpPr>
          <p:cNvPr id="2" name="Text 0"/>
          <p:cNvSpPr txBox="1"/>
          <p:nvPr/>
        </p:nvSpPr>
        <p:spPr>
          <a:xfrm>
            <a:off x="548640" y="128016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Inventory &amp; Supply-Chain Planning</a:t>
            </a:r>
            <a:endParaRPr lang="en-US" sz="3800" dirty="0"/>
          </a:p>
        </p:txBody>
      </p:sp>
      <p:sp>
        <p:nvSpPr>
          <p:cNvPr id="3" name="Text 1"/>
          <p:cNvSpPr txBox="1"/>
          <p:nvPr/>
        </p:nvSpPr>
        <p:spPr>
          <a:xfrm>
            <a:off x="548640" y="2194560"/>
            <a:ext cx="8046720" cy="457200"/>
          </a:xfrm>
          <a:prstGeom prst="rect">
            <a:avLst/>
          </a:prstGeom>
          <a:noFill/>
          <a:ln/>
        </p:spPr>
        <p:txBody>
          <a:bodyPr wrap="square" lIns="0" tIns="0" rIns="0" bIns="0" rtlCol="0" anchor="ctr"/>
          <a:lstStyle/>
          <a:p>
            <a:pPr indent="0" marL="0">
              <a:buNone/>
            </a:pPr>
            <a:r>
              <a:rPr lang="en-US" sz="2000" dirty="0">
                <a:solidFill>
                  <a:srgbClr val="F2A541"/>
                </a:solidFill>
                <a:latin typeface="Calibri" pitchFamily="34" charset="0"/>
                <a:ea typeface="Calibri" pitchFamily="34" charset="-122"/>
                <a:cs typeface="Calibri" pitchFamily="34" charset="-120"/>
              </a:rPr>
              <a:t>Time-series forecasting of COVID-19 medical supplies demand</a:t>
            </a:r>
            <a:endParaRPr lang="en-US" sz="2000" dirty="0"/>
          </a:p>
        </p:txBody>
      </p:sp>
      <p:sp>
        <p:nvSpPr>
          <p:cNvPr id="4" name="Text 2"/>
          <p:cNvSpPr txBox="1"/>
          <p:nvPr/>
        </p:nvSpPr>
        <p:spPr>
          <a:xfrm>
            <a:off x="548640" y="4023360"/>
            <a:ext cx="8046720" cy="365760"/>
          </a:xfrm>
          <a:prstGeom prst="rect">
            <a:avLst/>
          </a:prstGeom>
          <a:noFill/>
          <a:ln/>
        </p:spPr>
        <p:txBody>
          <a:bodyPr wrap="square" lIns="0" tIns="0" rIns="0" bIns="0" rtlCol="0" anchor="ctr"/>
          <a:lstStyle/>
          <a:p>
            <a:pPr indent="0" marL="0">
              <a:buNone/>
            </a:pPr>
            <a:r>
              <a:rPr lang="en-US" sz="1400" dirty="0">
                <a:solidFill>
                  <a:srgbClr val="C9D6D6"/>
                </a:solidFill>
                <a:latin typeface="Calibri" pitchFamily="34" charset="0"/>
                <a:ea typeface="Calibri" pitchFamily="34" charset="-122"/>
                <a:cs typeface="Calibri" pitchFamily="34" charset="-120"/>
              </a:rPr>
              <a:t>Time Series Analysis | Activity 2 | Team of 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 collection &amp; preparation</a:t>
            </a:r>
            <a:endParaRPr lang="en-US" sz="2400" dirty="0"/>
          </a:p>
        </p:txBody>
      </p:sp>
      <p:sp>
        <p:nvSpPr>
          <p:cNvPr id="5" name="Shape 2"/>
          <p:cNvSpPr/>
          <p:nvPr/>
        </p:nvSpPr>
        <p:spPr>
          <a:xfrm>
            <a:off x="365760" y="1051560"/>
            <a:ext cx="1965960" cy="1005840"/>
          </a:xfrm>
          <a:prstGeom prst="rect">
            <a:avLst/>
          </a:prstGeom>
          <a:solidFill>
            <a:srgbClr val="F4F7F7"/>
          </a:solidFill>
          <a:ln w="12700">
            <a:solidFill>
              <a:srgbClr val="2D8A8A"/>
            </a:solidFill>
            <a:prstDash val="solid"/>
          </a:ln>
        </p:spPr>
      </p:sp>
      <p:sp>
        <p:nvSpPr>
          <p:cNvPr id="6" name="Text 3"/>
          <p:cNvSpPr txBox="1"/>
          <p:nvPr/>
        </p:nvSpPr>
        <p:spPr>
          <a:xfrm>
            <a:off x="365760" y="1051560"/>
            <a:ext cx="1965960" cy="1005840"/>
          </a:xfrm>
          <a:prstGeom prst="rect">
            <a:avLst/>
          </a:prstGeom>
          <a:noFill/>
          <a:ln/>
        </p:spPr>
        <p:txBody>
          <a:bodyPr wrap="square" rtlCol="0" anchor="ctr"/>
          <a:lstStyle/>
          <a:p>
            <a:pPr algn="ctr" indent="0" marL="0">
              <a:buNone/>
            </a:pPr>
            <a:r>
              <a:rPr lang="en-US" sz="2600" b="1" dirty="0">
                <a:solidFill>
                  <a:srgbClr val="2D8A8A"/>
                </a:solidFill>
                <a:latin typeface="Calibri" pitchFamily="34" charset="0"/>
                <a:ea typeface="Calibri" pitchFamily="34" charset="-122"/>
                <a:cs typeface="Calibri" pitchFamily="34" charset="-120"/>
              </a:rPr>
              <a:t>38,764</a:t>
            </a:r>
            <a:endParaRPr lang="en-US" sz="2600" dirty="0"/>
          </a:p>
          <a:p>
            <a:pPr algn="ctr" indent="0" marL="0">
              <a:buNone/>
            </a:pPr>
            <a:r>
              <a:rPr lang="en-US" sz="1200" dirty="0">
                <a:solidFill>
                  <a:srgbClr val="243B45"/>
                </a:solidFill>
                <a:latin typeface="Calibri" pitchFamily="34" charset="0"/>
                <a:ea typeface="Calibri" pitchFamily="34" charset="-122"/>
                <a:cs typeface="Calibri" pitchFamily="34" charset="-120"/>
              </a:rPr>
              <a:t>clean records</a:t>
            </a:r>
            <a:endParaRPr lang="en-US" sz="2600" dirty="0"/>
          </a:p>
        </p:txBody>
      </p:sp>
      <p:sp>
        <p:nvSpPr>
          <p:cNvPr id="7" name="Shape 4"/>
          <p:cNvSpPr/>
          <p:nvPr/>
        </p:nvSpPr>
        <p:spPr>
          <a:xfrm>
            <a:off x="2514600" y="1051560"/>
            <a:ext cx="1965960" cy="1005840"/>
          </a:xfrm>
          <a:prstGeom prst="rect">
            <a:avLst/>
          </a:prstGeom>
          <a:solidFill>
            <a:srgbClr val="F4F7F7"/>
          </a:solidFill>
          <a:ln w="12700">
            <a:solidFill>
              <a:srgbClr val="2D8A8A"/>
            </a:solidFill>
            <a:prstDash val="solid"/>
          </a:ln>
        </p:spPr>
      </p:sp>
      <p:sp>
        <p:nvSpPr>
          <p:cNvPr id="8" name="Text 5"/>
          <p:cNvSpPr txBox="1"/>
          <p:nvPr/>
        </p:nvSpPr>
        <p:spPr>
          <a:xfrm>
            <a:off x="2514600" y="1051560"/>
            <a:ext cx="1965960" cy="1005840"/>
          </a:xfrm>
          <a:prstGeom prst="rect">
            <a:avLst/>
          </a:prstGeom>
          <a:noFill/>
          <a:ln/>
        </p:spPr>
        <p:txBody>
          <a:bodyPr wrap="square" rtlCol="0" anchor="ctr"/>
          <a:lstStyle/>
          <a:p>
            <a:pPr algn="ctr" indent="0" marL="0">
              <a:buNone/>
            </a:pPr>
            <a:r>
              <a:rPr lang="en-US" sz="2600" b="1" dirty="0">
                <a:solidFill>
                  <a:srgbClr val="2D8A8A"/>
                </a:solidFill>
                <a:latin typeface="Calibri" pitchFamily="34" charset="0"/>
                <a:ea typeface="Calibri" pitchFamily="34" charset="-122"/>
                <a:cs typeface="Calibri" pitchFamily="34" charset="-120"/>
              </a:rPr>
              <a:t>5</a:t>
            </a:r>
            <a:endParaRPr lang="en-US" sz="2600" dirty="0"/>
          </a:p>
          <a:p>
            <a:pPr algn="ctr" indent="0" marL="0">
              <a:buNone/>
            </a:pPr>
            <a:r>
              <a:rPr lang="en-US" sz="1200" dirty="0">
                <a:solidFill>
                  <a:srgbClr val="243B45"/>
                </a:solidFill>
                <a:latin typeface="Calibri" pitchFamily="34" charset="0"/>
                <a:ea typeface="Calibri" pitchFamily="34" charset="-122"/>
                <a:cs typeface="Calibri" pitchFamily="34" charset="-120"/>
              </a:rPr>
              <a:t>medical items</a:t>
            </a:r>
            <a:endParaRPr lang="en-US" sz="2600" dirty="0"/>
          </a:p>
        </p:txBody>
      </p:sp>
      <p:sp>
        <p:nvSpPr>
          <p:cNvPr id="9" name="Shape 6"/>
          <p:cNvSpPr/>
          <p:nvPr/>
        </p:nvSpPr>
        <p:spPr>
          <a:xfrm>
            <a:off x="4663440" y="1051560"/>
            <a:ext cx="1965960" cy="1005840"/>
          </a:xfrm>
          <a:prstGeom prst="rect">
            <a:avLst/>
          </a:prstGeom>
          <a:solidFill>
            <a:srgbClr val="F4F7F7"/>
          </a:solidFill>
          <a:ln w="12700">
            <a:solidFill>
              <a:srgbClr val="2D8A8A"/>
            </a:solidFill>
            <a:prstDash val="solid"/>
          </a:ln>
        </p:spPr>
      </p:sp>
      <p:sp>
        <p:nvSpPr>
          <p:cNvPr id="10" name="Text 7"/>
          <p:cNvSpPr txBox="1"/>
          <p:nvPr/>
        </p:nvSpPr>
        <p:spPr>
          <a:xfrm>
            <a:off x="4663440" y="1051560"/>
            <a:ext cx="1965960" cy="1005840"/>
          </a:xfrm>
          <a:prstGeom prst="rect">
            <a:avLst/>
          </a:prstGeom>
          <a:noFill/>
          <a:ln/>
        </p:spPr>
        <p:txBody>
          <a:bodyPr wrap="square" rtlCol="0" anchor="ctr"/>
          <a:lstStyle/>
          <a:p>
            <a:pPr algn="ctr" indent="0" marL="0">
              <a:buNone/>
            </a:pPr>
            <a:r>
              <a:rPr lang="en-US" sz="2600" b="1" dirty="0">
                <a:solidFill>
                  <a:srgbClr val="2D8A8A"/>
                </a:solidFill>
                <a:latin typeface="Calibri" pitchFamily="34" charset="0"/>
                <a:ea typeface="Calibri" pitchFamily="34" charset="-122"/>
                <a:cs typeface="Calibri" pitchFamily="34" charset="-120"/>
              </a:rPr>
              <a:t>103</a:t>
            </a:r>
            <a:endParaRPr lang="en-US" sz="2600" dirty="0"/>
          </a:p>
          <a:p>
            <a:pPr algn="ctr" indent="0" marL="0">
              <a:buNone/>
            </a:pPr>
            <a:r>
              <a:rPr lang="en-US" sz="1200" dirty="0">
                <a:solidFill>
                  <a:srgbClr val="243B45"/>
                </a:solidFill>
                <a:latin typeface="Calibri" pitchFamily="34" charset="0"/>
                <a:ea typeface="Calibri" pitchFamily="34" charset="-122"/>
                <a:cs typeface="Calibri" pitchFamily="34" charset="-120"/>
              </a:rPr>
              <a:t>weekly points per item</a:t>
            </a:r>
            <a:endParaRPr lang="en-US" sz="2600" dirty="0"/>
          </a:p>
        </p:txBody>
      </p:sp>
      <p:sp>
        <p:nvSpPr>
          <p:cNvPr id="11" name="Shape 8"/>
          <p:cNvSpPr/>
          <p:nvPr/>
        </p:nvSpPr>
        <p:spPr>
          <a:xfrm>
            <a:off x="6812280" y="1051560"/>
            <a:ext cx="1965960" cy="1005840"/>
          </a:xfrm>
          <a:prstGeom prst="rect">
            <a:avLst/>
          </a:prstGeom>
          <a:solidFill>
            <a:srgbClr val="F4F7F7"/>
          </a:solidFill>
          <a:ln w="12700">
            <a:solidFill>
              <a:srgbClr val="2D8A8A"/>
            </a:solidFill>
            <a:prstDash val="solid"/>
          </a:ln>
        </p:spPr>
      </p:sp>
      <p:sp>
        <p:nvSpPr>
          <p:cNvPr id="12" name="Text 9"/>
          <p:cNvSpPr txBox="1"/>
          <p:nvPr/>
        </p:nvSpPr>
        <p:spPr>
          <a:xfrm>
            <a:off x="6812280" y="1051560"/>
            <a:ext cx="1965960" cy="1005840"/>
          </a:xfrm>
          <a:prstGeom prst="rect">
            <a:avLst/>
          </a:prstGeom>
          <a:noFill/>
          <a:ln/>
        </p:spPr>
        <p:txBody>
          <a:bodyPr wrap="square" rtlCol="0" anchor="ctr"/>
          <a:lstStyle/>
          <a:p>
            <a:pPr algn="ctr" indent="0" marL="0">
              <a:buNone/>
            </a:pPr>
            <a:r>
              <a:rPr lang="en-US" sz="2600" b="1" dirty="0">
                <a:solidFill>
                  <a:srgbClr val="2D8A8A"/>
                </a:solidFill>
                <a:latin typeface="Calibri" pitchFamily="34" charset="0"/>
                <a:ea typeface="Calibri" pitchFamily="34" charset="-122"/>
                <a:cs typeface="Calibri" pitchFamily="34" charset="-120"/>
              </a:rPr>
              <a:t>2019-20</a:t>
            </a:r>
            <a:endParaRPr lang="en-US" sz="2600" dirty="0"/>
          </a:p>
          <a:p>
            <a:pPr algn="ctr" indent="0" marL="0">
              <a:buNone/>
            </a:pPr>
            <a:r>
              <a:rPr lang="en-US" sz="1200" dirty="0">
                <a:solidFill>
                  <a:srgbClr val="243B45"/>
                </a:solidFill>
                <a:latin typeface="Calibri" pitchFamily="34" charset="0"/>
                <a:ea typeface="Calibri" pitchFamily="34" charset="-122"/>
                <a:cs typeface="Calibri" pitchFamily="34" charset="-120"/>
              </a:rPr>
              <a:t>Jan 2019 - Dec 2020</a:t>
            </a:r>
            <a:endParaRPr lang="en-US" sz="2600" dirty="0"/>
          </a:p>
        </p:txBody>
      </p:sp>
      <p:sp>
        <p:nvSpPr>
          <p:cNvPr id="13" name="Text 10"/>
          <p:cNvSpPr txBox="1"/>
          <p:nvPr/>
        </p:nvSpPr>
        <p:spPr>
          <a:xfrm>
            <a:off x="365760" y="2331720"/>
            <a:ext cx="84124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243B45"/>
                </a:solidFill>
                <a:latin typeface="Calibri" pitchFamily="34" charset="0"/>
                <a:ea typeface="Calibri" pitchFamily="34" charset="-122"/>
                <a:cs typeface="Calibri" pitchFamily="34" charset="-120"/>
              </a:rPr>
              <a:t>Fields: date, medical item, demand (units), government regulation, market trend, weather, supply-chain status (delayed / normal)</a:t>
            </a:r>
            <a:endParaRPr lang="en-US" sz="1500" dirty="0"/>
          </a:p>
          <a:p>
            <a:pPr marL="342900" indent="-342900">
              <a:spcAft>
                <a:spcPts val="800"/>
              </a:spcAft>
              <a:buSzPct val="100000"/>
              <a:buChar char="•"/>
            </a:pPr>
            <a:r>
              <a:rPr lang="en-US" sz="1500" dirty="0">
                <a:solidFill>
                  <a:srgbClr val="243B45"/>
                </a:solidFill>
                <a:latin typeface="Calibri" pitchFamily="34" charset="0"/>
                <a:ea typeface="Calibri" pitchFamily="34" charset="-122"/>
                <a:cs typeface="Calibri" pitchFamily="34" charset="-120"/>
              </a:rPr>
              <a:t>Cleaning: 1 blank row removed; no duplicates; daily records summed into weekly demand per item</a:t>
            </a:r>
            <a:endParaRPr lang="en-US" sz="1500" dirty="0"/>
          </a:p>
          <a:p>
            <a:pPr marL="342900" indent="-342900">
              <a:spcAft>
                <a:spcPts val="800"/>
              </a:spcAft>
              <a:buSzPct val="100000"/>
              <a:buChar char="•"/>
            </a:pPr>
            <a:r>
              <a:rPr lang="en-US" sz="1500" dirty="0">
                <a:solidFill>
                  <a:srgbClr val="243B45"/>
                </a:solidFill>
                <a:latin typeface="Calibri" pitchFamily="34" charset="0"/>
                <a:ea typeface="Calibri" pitchFamily="34" charset="-122"/>
                <a:cs typeface="Calibri" pitchFamily="34" charset="-120"/>
              </a:rPr>
              <a:t>Items: Surgical Mask, Hand Sanitizer, Thermometer, Paracetamol Tablets, Antibiotic Capsules</a:t>
            </a:r>
            <a:endParaRPr lang="en-US" sz="1500" dirty="0"/>
          </a:p>
          <a:p>
            <a:pPr marL="342900" indent="-342900">
              <a:spcAft>
                <a:spcPts val="800"/>
              </a:spcAft>
              <a:buSzPct val="100000"/>
              <a:buChar char="•"/>
            </a:pPr>
            <a:r>
              <a:rPr lang="en-US" sz="1500" dirty="0">
                <a:solidFill>
                  <a:srgbClr val="243B45"/>
                </a:solidFill>
                <a:latin typeface="Calibri" pitchFamily="34" charset="0"/>
                <a:ea typeface="Calibri" pitchFamily="34" charset="-122"/>
                <a:cs typeface="Calibri" pitchFamily="34" charset="-120"/>
              </a:rPr>
              <a:t>Limitation: no on-hand stock column, so safety stock and reorder points are computed from the forecast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Exploratory analysis: demand stepped up in 2020</a:t>
            </a:r>
            <a:endParaRPr lang="en-US" sz="2400" dirty="0"/>
          </a:p>
        </p:txBody>
      </p:sp>
      <p:graphicFrame>
        <p:nvGraphicFramePr>
          <p:cNvPr id="5" name="Chart 0" descr=""/>
          <p:cNvGraphicFramePr/>
          <p:nvPr/>
        </p:nvGraphicFramePr>
        <p:xfrm>
          <a:off x="274320" y="1005840"/>
          <a:ext cx="5120640" cy="37490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577840" y="1097280"/>
            <a:ext cx="3291840" cy="3657600"/>
          </a:xfrm>
          <a:prstGeom prst="rect">
            <a:avLst/>
          </a:prstGeom>
          <a:noFill/>
          <a:ln/>
        </p:spPr>
        <p:txBody>
          <a:bodyPr wrap="square" rtlCol="0" anchor="t"/>
          <a:lstStyle/>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Every item rose about 10-13% in 2020 (average weekly demand, weeks ending in 2020 vs 2019)</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ADF test: Paracetamol and Thermometer are non-stationary (p &gt; 0.05), so ARIMA differences the data first</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Driver tests (ANOVA p-values): regulation 0.17, market 0.48, weather 1.00, supply delay 0.71 - none significant (p &gt; 0.05)</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Methodology</a:t>
            </a:r>
            <a:endParaRPr lang="en-US" sz="2400" dirty="0"/>
          </a:p>
        </p:txBody>
      </p:sp>
      <p:sp>
        <p:nvSpPr>
          <p:cNvPr id="5" name="Shape 2"/>
          <p:cNvSpPr/>
          <p:nvPr/>
        </p:nvSpPr>
        <p:spPr>
          <a:xfrm>
            <a:off x="274320" y="1097280"/>
            <a:ext cx="2011680" cy="960120"/>
          </a:xfrm>
          <a:prstGeom prst="roundRect">
            <a:avLst>
              <a:gd name="adj" fmla="val 7619"/>
            </a:avLst>
          </a:prstGeom>
          <a:solidFill>
            <a:srgbClr val="F4F7F7"/>
          </a:solidFill>
          <a:ln w="12700">
            <a:solidFill>
              <a:srgbClr val="2D8A8A"/>
            </a:solidFill>
            <a:prstDash val="solid"/>
          </a:ln>
        </p:spPr>
      </p:sp>
      <p:sp>
        <p:nvSpPr>
          <p:cNvPr id="6" name="Text 3"/>
          <p:cNvSpPr txBox="1"/>
          <p:nvPr/>
        </p:nvSpPr>
        <p:spPr>
          <a:xfrm>
            <a:off x="274320" y="109728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1. Aggregate daily to weekly</a:t>
            </a:r>
            <a:endParaRPr lang="en-US" sz="1300" dirty="0"/>
          </a:p>
        </p:txBody>
      </p:sp>
      <p:sp>
        <p:nvSpPr>
          <p:cNvPr id="7" name="Shape 4"/>
          <p:cNvSpPr/>
          <p:nvPr/>
        </p:nvSpPr>
        <p:spPr>
          <a:xfrm>
            <a:off x="2468880" y="1097280"/>
            <a:ext cx="2011680" cy="960120"/>
          </a:xfrm>
          <a:prstGeom prst="roundRect">
            <a:avLst>
              <a:gd name="adj" fmla="val 7619"/>
            </a:avLst>
          </a:prstGeom>
          <a:solidFill>
            <a:srgbClr val="F4F7F7"/>
          </a:solidFill>
          <a:ln w="12700">
            <a:solidFill>
              <a:srgbClr val="2D8A8A"/>
            </a:solidFill>
            <a:prstDash val="solid"/>
          </a:ln>
        </p:spPr>
      </p:sp>
      <p:sp>
        <p:nvSpPr>
          <p:cNvPr id="8" name="Text 5"/>
          <p:cNvSpPr txBox="1"/>
          <p:nvPr/>
        </p:nvSpPr>
        <p:spPr>
          <a:xfrm>
            <a:off x="2468880" y="109728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2. ADF stationarity test</a:t>
            </a:r>
            <a:endParaRPr lang="en-US" sz="1300" dirty="0"/>
          </a:p>
        </p:txBody>
      </p:sp>
      <p:sp>
        <p:nvSpPr>
          <p:cNvPr id="9" name="Shape 6"/>
          <p:cNvSpPr/>
          <p:nvPr/>
        </p:nvSpPr>
        <p:spPr>
          <a:xfrm>
            <a:off x="4663440" y="1097280"/>
            <a:ext cx="2011680" cy="960120"/>
          </a:xfrm>
          <a:prstGeom prst="roundRect">
            <a:avLst>
              <a:gd name="adj" fmla="val 7619"/>
            </a:avLst>
          </a:prstGeom>
          <a:solidFill>
            <a:srgbClr val="F4F7F7"/>
          </a:solidFill>
          <a:ln w="12700">
            <a:solidFill>
              <a:srgbClr val="2D8A8A"/>
            </a:solidFill>
            <a:prstDash val="solid"/>
          </a:ln>
        </p:spPr>
      </p:sp>
      <p:sp>
        <p:nvSpPr>
          <p:cNvPr id="10" name="Text 7"/>
          <p:cNvSpPr txBox="1"/>
          <p:nvPr/>
        </p:nvSpPr>
        <p:spPr>
          <a:xfrm>
            <a:off x="4663440" y="109728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3. Train on first 91 weeks</a:t>
            </a:r>
            <a:endParaRPr lang="en-US" sz="1300" dirty="0"/>
          </a:p>
        </p:txBody>
      </p:sp>
      <p:sp>
        <p:nvSpPr>
          <p:cNvPr id="11" name="Shape 8"/>
          <p:cNvSpPr/>
          <p:nvPr/>
        </p:nvSpPr>
        <p:spPr>
          <a:xfrm>
            <a:off x="6858000" y="1097280"/>
            <a:ext cx="2011680" cy="960120"/>
          </a:xfrm>
          <a:prstGeom prst="roundRect">
            <a:avLst>
              <a:gd name="adj" fmla="val 7619"/>
            </a:avLst>
          </a:prstGeom>
          <a:solidFill>
            <a:srgbClr val="F4F7F7"/>
          </a:solidFill>
          <a:ln w="12700">
            <a:solidFill>
              <a:srgbClr val="2D8A8A"/>
            </a:solidFill>
            <a:prstDash val="solid"/>
          </a:ln>
        </p:spPr>
      </p:sp>
      <p:sp>
        <p:nvSpPr>
          <p:cNvPr id="12" name="Text 9"/>
          <p:cNvSpPr txBox="1"/>
          <p:nvPr/>
        </p:nvSpPr>
        <p:spPr>
          <a:xfrm>
            <a:off x="6858000" y="109728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4. Test on last 12 weeks</a:t>
            </a:r>
            <a:endParaRPr lang="en-US" sz="1300" dirty="0"/>
          </a:p>
        </p:txBody>
      </p:sp>
      <p:sp>
        <p:nvSpPr>
          <p:cNvPr id="13" name="Shape 10"/>
          <p:cNvSpPr/>
          <p:nvPr/>
        </p:nvSpPr>
        <p:spPr>
          <a:xfrm>
            <a:off x="274320" y="2331720"/>
            <a:ext cx="2011680" cy="960120"/>
          </a:xfrm>
          <a:prstGeom prst="roundRect">
            <a:avLst>
              <a:gd name="adj" fmla="val 7619"/>
            </a:avLst>
          </a:prstGeom>
          <a:solidFill>
            <a:srgbClr val="F4F7F7"/>
          </a:solidFill>
          <a:ln w="12700">
            <a:solidFill>
              <a:srgbClr val="2D8A8A"/>
            </a:solidFill>
            <a:prstDash val="solid"/>
          </a:ln>
        </p:spPr>
      </p:sp>
      <p:sp>
        <p:nvSpPr>
          <p:cNvPr id="14" name="Text 11"/>
          <p:cNvSpPr txBox="1"/>
          <p:nvPr/>
        </p:nvSpPr>
        <p:spPr>
          <a:xfrm>
            <a:off x="274320" y="233172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5. Pick best by MAPE</a:t>
            </a:r>
            <a:endParaRPr lang="en-US" sz="1300" dirty="0"/>
          </a:p>
        </p:txBody>
      </p:sp>
      <p:sp>
        <p:nvSpPr>
          <p:cNvPr id="15" name="Shape 12"/>
          <p:cNvSpPr/>
          <p:nvPr/>
        </p:nvSpPr>
        <p:spPr>
          <a:xfrm>
            <a:off x="2468880" y="2331720"/>
            <a:ext cx="2011680" cy="960120"/>
          </a:xfrm>
          <a:prstGeom prst="roundRect">
            <a:avLst>
              <a:gd name="adj" fmla="val 7619"/>
            </a:avLst>
          </a:prstGeom>
          <a:solidFill>
            <a:srgbClr val="F4F7F7"/>
          </a:solidFill>
          <a:ln w="12700">
            <a:solidFill>
              <a:srgbClr val="2D8A8A"/>
            </a:solidFill>
            <a:prstDash val="solid"/>
          </a:ln>
        </p:spPr>
      </p:sp>
      <p:sp>
        <p:nvSpPr>
          <p:cNvPr id="16" name="Text 13"/>
          <p:cNvSpPr txBox="1"/>
          <p:nvPr/>
        </p:nvSpPr>
        <p:spPr>
          <a:xfrm>
            <a:off x="2468880" y="233172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6. Forecast 12 weeks ahead</a:t>
            </a:r>
            <a:endParaRPr lang="en-US" sz="1300" dirty="0"/>
          </a:p>
        </p:txBody>
      </p:sp>
      <p:sp>
        <p:nvSpPr>
          <p:cNvPr id="17" name="Shape 14"/>
          <p:cNvSpPr/>
          <p:nvPr/>
        </p:nvSpPr>
        <p:spPr>
          <a:xfrm>
            <a:off x="4663440" y="2331720"/>
            <a:ext cx="2011680" cy="960120"/>
          </a:xfrm>
          <a:prstGeom prst="roundRect">
            <a:avLst>
              <a:gd name="adj" fmla="val 7619"/>
            </a:avLst>
          </a:prstGeom>
          <a:solidFill>
            <a:srgbClr val="F2A541"/>
          </a:solidFill>
          <a:ln w="12700">
            <a:solidFill>
              <a:srgbClr val="2D8A8A"/>
            </a:solidFill>
            <a:prstDash val="solid"/>
          </a:ln>
        </p:spPr>
      </p:sp>
      <p:sp>
        <p:nvSpPr>
          <p:cNvPr id="18" name="Text 15"/>
          <p:cNvSpPr txBox="1"/>
          <p:nvPr/>
        </p:nvSpPr>
        <p:spPr>
          <a:xfrm>
            <a:off x="4663440" y="233172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7. Safety stock &amp; reorder point</a:t>
            </a:r>
            <a:endParaRPr lang="en-US" sz="1300" dirty="0"/>
          </a:p>
        </p:txBody>
      </p:sp>
      <p:sp>
        <p:nvSpPr>
          <p:cNvPr id="19" name="Text 16"/>
          <p:cNvSpPr txBox="1"/>
          <p:nvPr/>
        </p:nvSpPr>
        <p:spPr>
          <a:xfrm>
            <a:off x="365760" y="3749040"/>
            <a:ext cx="8412480" cy="1097280"/>
          </a:xfrm>
          <a:prstGeom prst="rect">
            <a:avLst/>
          </a:prstGeom>
          <a:noFill/>
          <a:ln/>
        </p:spPr>
        <p:txBody>
          <a:bodyPr wrap="square" rtlCol="0" anchor="t"/>
          <a:lstStyle/>
          <a:p>
            <a:pPr marL="342900" indent="-342900">
              <a:spcAft>
                <a:spcPts val="800"/>
              </a:spcAft>
              <a:buSzPct val="100000"/>
              <a:buChar char="•"/>
            </a:pPr>
            <a:r>
              <a:rPr lang="en-US" sz="1400" dirty="0">
                <a:solidFill>
                  <a:srgbClr val="243B45"/>
                </a:solidFill>
                <a:latin typeface="Calibri" pitchFamily="34" charset="0"/>
                <a:ea typeface="Calibri" pitchFamily="34" charset="-122"/>
                <a:cs typeface="Calibri" pitchFamily="34" charset="-120"/>
              </a:rPr>
              <a:t>Models: Naive, 4-week moving average, simple exponential smoothing, damped Holt trend, ARIMA(1,1,1)</a:t>
            </a:r>
            <a:endParaRPr lang="en-US" sz="1400" dirty="0"/>
          </a:p>
          <a:p>
            <a:pPr marL="342900" indent="-342900">
              <a:spcAft>
                <a:spcPts val="800"/>
              </a:spcAft>
              <a:buSzPct val="100000"/>
              <a:buChar char="•"/>
            </a:pPr>
            <a:r>
              <a:rPr lang="en-US" sz="1400" dirty="0">
                <a:solidFill>
                  <a:srgbClr val="243B45"/>
                </a:solidFill>
                <a:latin typeface="Calibri" pitchFamily="34" charset="0"/>
                <a:ea typeface="Calibri" pitchFamily="34" charset="-122"/>
                <a:cs typeface="Calibri" pitchFamily="34" charset="-120"/>
              </a:rPr>
              <a:t>Metrics: MAE, RMSE, MAPE on the 12-week holdout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Predictive modelling: model comparison</a:t>
            </a:r>
            <a:endParaRPr lang="en-US" sz="2400" dirty="0"/>
          </a:p>
        </p:txBody>
      </p:sp>
      <p:graphicFrame>
        <p:nvGraphicFramePr>
          <p:cNvPr id="5" name="Chart 0" descr=""/>
          <p:cNvGraphicFramePr/>
          <p:nvPr/>
        </p:nvGraphicFramePr>
        <p:xfrm>
          <a:off x="274320" y="914400"/>
          <a:ext cx="8595360" cy="26060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365760" y="3566160"/>
            <a:ext cx="8412480" cy="274320"/>
          </a:xfrm>
          <a:prstGeom prst="rect">
            <a:avLst/>
          </a:prstGeom>
          <a:noFill/>
          <a:ln/>
        </p:spPr>
        <p:txBody>
          <a:bodyPr wrap="square" lIns="0" tIns="0" rIns="0" bIns="0" rtlCol="0" anchor="ctr"/>
          <a:lstStyle/>
          <a:p>
            <a:pPr indent="0" marL="0">
              <a:buNone/>
            </a:pPr>
            <a:r>
              <a:rPr lang="en-US" sz="1200" b="1" dirty="0">
                <a:solidFill>
                  <a:srgbClr val="2D8A8A"/>
                </a:solidFill>
                <a:latin typeface="Calibri" pitchFamily="34" charset="0"/>
                <a:ea typeface="Calibri" pitchFamily="34" charset="-122"/>
                <a:cs typeface="Calibri" pitchFamily="34" charset="-120"/>
              </a:rPr>
              <a:t>Best model per item (lowest holdout MAPE)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3886200"/>
          <a:ext cx="8412480" cy="914400"/>
        </p:xfrm>
        <a:graphic>
          <a:graphicData uri="http://schemas.openxmlformats.org/drawingml/2006/table">
            <a:tbl>
              <a:tblPr/>
              <a:tblGrid>
                <a:gridCol w="1682496"/>
                <a:gridCol w="1682496"/>
                <a:gridCol w="1682496"/>
                <a:gridCol w="1682496"/>
                <a:gridCol w="1682496"/>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Antibiotic Capsules</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Hand Sanitizer</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Paracetamol Tablets</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Surgical Mask</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Thermometer</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r>
              <a:tr h="347472">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MovAvg(4)  |  17.1%</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MovAvg(4)  |  11.5%</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ARIMA(1,1,1)  |  14.3%</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MovAvg(4)  |  12.2%</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Holt  |  8.4%</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Forecast: next 12 weeks (Surgical Mask)</a:t>
            </a:r>
            <a:endParaRPr lang="en-US" sz="2400" dirty="0"/>
          </a:p>
        </p:txBody>
      </p:sp>
      <p:graphicFrame>
        <p:nvGraphicFramePr>
          <p:cNvPr id="5" name="Chart 0" descr=""/>
          <p:cNvGraphicFramePr/>
          <p:nvPr/>
        </p:nvGraphicFramePr>
        <p:xfrm>
          <a:off x="274320" y="960120"/>
          <a:ext cx="5669280" cy="38404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126480" y="1188720"/>
            <a:ext cx="2743200" cy="2743200"/>
          </a:xfrm>
          <a:prstGeom prst="rect">
            <a:avLst/>
          </a:prstGeom>
          <a:noFill/>
          <a:ln/>
        </p:spPr>
        <p:txBody>
          <a:bodyPr wrap="square" rtlCol="0" anchor="t"/>
          <a:lstStyle/>
          <a:p>
            <a:pPr marL="342900" indent="-342900">
              <a:spcAft>
                <a:spcPts val="800"/>
              </a:spcAft>
              <a:buSzPct val="100000"/>
              <a:buChar char="•"/>
            </a:pPr>
            <a:r>
              <a:rPr lang="en-US" sz="1400" dirty="0">
                <a:solidFill>
                  <a:srgbClr val="243B45"/>
                </a:solidFill>
                <a:latin typeface="Calibri" pitchFamily="34" charset="0"/>
                <a:ea typeface="Calibri" pitchFamily="34" charset="-122"/>
                <a:cs typeface="Calibri" pitchFamily="34" charset="-120"/>
              </a:rPr>
              <a:t>Forecast avg: 133,938 units/week</a:t>
            </a:r>
            <a:endParaRPr lang="en-US" sz="1400" dirty="0"/>
          </a:p>
          <a:p>
            <a:pPr marL="342900" indent="-342900">
              <a:spcAft>
                <a:spcPts val="800"/>
              </a:spcAft>
              <a:buSzPct val="100000"/>
              <a:buChar char="•"/>
            </a:pPr>
            <a:r>
              <a:rPr lang="en-US" sz="1400" dirty="0">
                <a:solidFill>
                  <a:srgbClr val="243B45"/>
                </a:solidFill>
                <a:latin typeface="Calibri" pitchFamily="34" charset="0"/>
                <a:ea typeface="Calibri" pitchFamily="34" charset="-122"/>
                <a:cs typeface="Calibri" pitchFamily="34" charset="-120"/>
              </a:rPr>
              <a:t>Holdout error (RMSE): 20,476 units</a:t>
            </a:r>
            <a:endParaRPr lang="en-US" sz="1400" dirty="0"/>
          </a:p>
          <a:p>
            <a:pPr marL="342900" indent="-342900">
              <a:spcAft>
                <a:spcPts val="800"/>
              </a:spcAft>
              <a:buSzPct val="100000"/>
              <a:buChar char="•"/>
            </a:pPr>
            <a:r>
              <a:rPr lang="en-US" sz="1400" dirty="0">
                <a:solidFill>
                  <a:srgbClr val="243B45"/>
                </a:solidFill>
                <a:latin typeface="Calibri" pitchFamily="34" charset="0"/>
                <a:ea typeface="Calibri" pitchFamily="34" charset="-122"/>
                <a:cs typeface="Calibri" pitchFamily="34" charset="-120"/>
              </a:rPr>
              <a:t>Holdout MAPE: 12.2%</a:t>
            </a:r>
            <a:endParaRPr lang="en-US" sz="1400" dirty="0"/>
          </a:p>
          <a:p>
            <a:pPr marL="342900" indent="-342900">
              <a:spcAft>
                <a:spcPts val="800"/>
              </a:spcAft>
              <a:buSzPct val="100000"/>
              <a:buChar char="•"/>
            </a:pPr>
            <a:r>
              <a:rPr lang="en-US" sz="1400" dirty="0">
                <a:solidFill>
                  <a:srgbClr val="243B45"/>
                </a:solidFill>
                <a:latin typeface="Calibri" pitchFamily="34" charset="0"/>
                <a:ea typeface="Calibri" pitchFamily="34" charset="-122"/>
                <a:cs typeface="Calibri" pitchFamily="34" charset="-120"/>
              </a:rPr>
              <a:t>Model: MovAvg(4)</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Inventory plan: safety stock &amp; reorder points</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8412480" cy="914400"/>
        </p:xfrm>
        <a:graphic>
          <a:graphicData uri="http://schemas.openxmlformats.org/drawingml/2006/table">
            <a:tbl>
              <a:tblPr/>
              <a:tblGrid>
                <a:gridCol w="1828800"/>
                <a:gridCol w="1097280"/>
                <a:gridCol w="1371600"/>
                <a:gridCol w="1371600"/>
                <a:gridCol w="1371600"/>
                <a:gridCol w="137160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Forecast / wk</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Safety stock (normal)</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Reorder pt (normal)</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Safety stock (delayed)</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Reorder pt (delayed)</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Antibiotic Capsules</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40,831</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15,918</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56,749</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22,511</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104,174</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Hand Sanitizer</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90,723</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20,434</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111,157</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28,898</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210,343</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Paracetamol Tablets</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50,640</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13,687</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64,327</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19,356</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120,636</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Surgical Mask</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133,938</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33,682</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167,620</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47,634</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315,509</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Thermometer</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100,753</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18,867</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119,620</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26,681</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228,188</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bl>
          </a:graphicData>
        </a:graphic>
      </p:graphicFrame>
      <p:sp>
        <p:nvSpPr>
          <p:cNvPr id="6" name="Text 2"/>
          <p:cNvSpPr txBox="1"/>
          <p:nvPr/>
        </p:nvSpPr>
        <p:spPr>
          <a:xfrm>
            <a:off x="365760" y="3749040"/>
            <a:ext cx="8412480" cy="731520"/>
          </a:xfrm>
          <a:prstGeom prst="rect">
            <a:avLst/>
          </a:prstGeom>
          <a:noFill/>
          <a:ln/>
        </p:spPr>
        <p:txBody>
          <a:bodyPr wrap="square" rtlCol="0" anchor="t"/>
          <a:lstStyle/>
          <a:p>
            <a:pPr indent="0" marL="0">
              <a:buNone/>
            </a:pPr>
            <a:r>
              <a:rPr lang="en-US" sz="1200" i="1" dirty="0">
                <a:solidFill>
                  <a:srgbClr val="243B45"/>
                </a:solidFill>
                <a:latin typeface="Calibri" pitchFamily="34" charset="0"/>
                <a:ea typeface="Calibri" pitchFamily="34" charset="-122"/>
                <a:cs typeface="Calibri" pitchFamily="34" charset="-120"/>
              </a:rPr>
              <a:t>Assumptions: 95% service level (z = 1.645); lead time 1 week (normal), 2 weeks (delayed). Units = demand units per week.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Recommendations &amp; limitations</a:t>
            </a:r>
            <a:endParaRPr lang="en-US" sz="2400" dirty="0"/>
          </a:p>
        </p:txBody>
      </p:sp>
      <p:sp>
        <p:nvSpPr>
          <p:cNvPr id="5" name="Text 2"/>
          <p:cNvSpPr txBox="1"/>
          <p:nvPr/>
        </p:nvSpPr>
        <p:spPr>
          <a:xfrm>
            <a:off x="365760" y="1005840"/>
            <a:ext cx="4023360" cy="365760"/>
          </a:xfrm>
          <a:prstGeom prst="rect">
            <a:avLst/>
          </a:prstGeom>
          <a:noFill/>
          <a:ln/>
        </p:spPr>
        <p:txBody>
          <a:bodyPr wrap="square" lIns="0" tIns="0" rIns="0" bIns="0" rtlCol="0" anchor="ctr"/>
          <a:lstStyle/>
          <a:p>
            <a:pPr indent="0" marL="0">
              <a:buNone/>
            </a:pPr>
            <a:r>
              <a:rPr lang="en-US" sz="1700" b="1" dirty="0">
                <a:solidFill>
                  <a:srgbClr val="2D8A8A"/>
                </a:solidFill>
                <a:latin typeface="Calibri" pitchFamily="34" charset="0"/>
                <a:ea typeface="Calibri" pitchFamily="34" charset="-122"/>
                <a:cs typeface="Calibri" pitchFamily="34" charset="-120"/>
              </a:rPr>
              <a:t>Recommendations</a:t>
            </a:r>
            <a:endParaRPr lang="en-US" sz="1700" dirty="0"/>
          </a:p>
        </p:txBody>
      </p:sp>
      <p:sp>
        <p:nvSpPr>
          <p:cNvPr id="6" name="Text 3"/>
          <p:cNvSpPr txBox="1"/>
          <p:nvPr/>
        </p:nvSpPr>
        <p:spPr>
          <a:xfrm>
            <a:off x="365760" y="1417320"/>
            <a:ext cx="4114800" cy="3383280"/>
          </a:xfrm>
          <a:prstGeom prst="rect">
            <a:avLst/>
          </a:prstGeom>
          <a:noFill/>
          <a:ln/>
        </p:spPr>
        <p:txBody>
          <a:bodyPr wrap="square" rtlCol="0" anchor="t"/>
          <a:lstStyle/>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Plan on the delayed lead time: its reorder points are higher and cover the ~50% of orders that arrive late</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Prioritise Surgical Mask and Hand Sanitizer: largest volumes and the biggest safety stock</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Use a simple 4-week moving average or SES for routine forecasting; re-run weekly</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Raise stock on any week where actual demand exceeds forecast by more than 1 RMSE</a:t>
            </a:r>
            <a:endParaRPr lang="en-US" sz="1300" dirty="0"/>
          </a:p>
        </p:txBody>
      </p:sp>
      <p:sp>
        <p:nvSpPr>
          <p:cNvPr id="7" name="Text 4"/>
          <p:cNvSpPr txBox="1"/>
          <p:nvPr/>
        </p:nvSpPr>
        <p:spPr>
          <a:xfrm>
            <a:off x="4754880" y="1005840"/>
            <a:ext cx="4023360" cy="365760"/>
          </a:xfrm>
          <a:prstGeom prst="rect">
            <a:avLst/>
          </a:prstGeom>
          <a:noFill/>
          <a:ln/>
        </p:spPr>
        <p:txBody>
          <a:bodyPr wrap="square" lIns="0" tIns="0" rIns="0" bIns="0" rtlCol="0" anchor="ctr"/>
          <a:lstStyle/>
          <a:p>
            <a:pPr indent="0" marL="0">
              <a:buNone/>
            </a:pPr>
            <a:r>
              <a:rPr lang="en-US" sz="1700" b="1" dirty="0">
                <a:solidFill>
                  <a:srgbClr val="F2A541"/>
                </a:solidFill>
                <a:latin typeface="Calibri" pitchFamily="34" charset="0"/>
                <a:ea typeface="Calibri" pitchFamily="34" charset="-122"/>
                <a:cs typeface="Calibri" pitchFamily="34" charset="-120"/>
              </a:rPr>
              <a:t>Limitations</a:t>
            </a:r>
            <a:endParaRPr lang="en-US" sz="1700" dirty="0"/>
          </a:p>
        </p:txBody>
      </p:sp>
      <p:sp>
        <p:nvSpPr>
          <p:cNvPr id="8" name="Text 5"/>
          <p:cNvSpPr txBox="1"/>
          <p:nvPr/>
        </p:nvSpPr>
        <p:spPr>
          <a:xfrm>
            <a:off x="4754880" y="1417320"/>
            <a:ext cx="4023360" cy="3383280"/>
          </a:xfrm>
          <a:prstGeom prst="rect">
            <a:avLst/>
          </a:prstGeom>
          <a:noFill/>
          <a:ln/>
        </p:spPr>
        <p:txBody>
          <a:bodyPr wrap="square" rtlCol="0" anchor="t"/>
          <a:lstStyle/>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Only 2 years of data: no reliable yearly seasonality</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No stock-level or cost data: no EOQ or true stockout rate</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Lead times are assumed, not observed; model chosen and error measured on the same 12 test weeks (slightly optimistic)</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Regulation, weather and market labels showed no effect on demand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&amp; Supply-Chain Planning - COVID-19 Medicines</dc:title>
  <dc:subject>PptxGenJS Presentation</dc:subject>
  <dc:creator>PptxGenJS</dc:creator>
  <cp:lastModifiedBy>PptxGenJS</cp:lastModifiedBy>
  <cp:revision>1</cp:revision>
  <dcterms:created xsi:type="dcterms:W3CDTF">2026-10-06T14:03:38Z</dcterms:created>
  <dcterms:modified xsi:type="dcterms:W3CDTF">2026-10-06T14:03:38Z</dcterms:modified>
</cp:coreProperties>
</file>